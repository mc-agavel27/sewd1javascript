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1882" autoAdjust="0"/>
  </p:normalViewPr>
  <p:slideViewPr>
    <p:cSldViewPr snapToGrid="0">
      <p:cViewPr varScale="1">
        <p:scale>
          <a:sx n="87" d="100"/>
          <a:sy n="87" d="100"/>
        </p:scale>
        <p:origin x="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A8D1E-9A36-4E32-B934-B731D236A21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82E4-E869-4707-89A9-A7BA84E93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65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developers design applications through code, and they test and maintain those </a:t>
            </a:r>
            <a:r>
              <a:rPr lang="en-US" dirty="0" err="1"/>
              <a:t>softwares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82E4-E869-4707-89A9-A7BA84E93C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65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Communication, problem solving, and adaptability are important in the field, bachelor’s degree is usually required for most jobs, and knowledge is always helpful in the field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82E4-E869-4707-89A9-A7BA84E93C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86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salaries are estimates, and each one might be lower depending on jobs and certain included 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82E4-E869-4707-89A9-A7BA84E93C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growth rate is an estimate for the next ten years, and the demand is high due to many companies requiring developers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82E4-E869-4707-89A9-A7BA84E93C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0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program different websites or software, even if it’s HTML, and we work with databases when using 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82E4-E869-4707-89A9-A7BA84E93C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19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salary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82E4-E869-4707-89A9-A7BA84E93C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25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82E4-E869-4707-89A9-A7BA84E93C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09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4AFD6-56BE-4675-8B10-7F4A625B1539}"/>
              </a:ext>
            </a:extLst>
          </p:cNvPr>
          <p:cNvSpPr txBox="1"/>
          <p:nvPr userDrawn="1"/>
        </p:nvSpPr>
        <p:spPr>
          <a:xfrm>
            <a:off x="10774680" y="6488668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Adam Gavel</a:t>
            </a:r>
          </a:p>
        </p:txBody>
      </p:sp>
    </p:spTree>
    <p:extLst>
      <p:ext uri="{BB962C8B-B14F-4D97-AF65-F5344CB8AC3E}">
        <p14:creationId xmlns:p14="http://schemas.microsoft.com/office/powerpoint/2010/main" val="406386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35C0C-16CD-4903-A347-AAD0D9D89BAF}"/>
              </a:ext>
            </a:extLst>
          </p:cNvPr>
          <p:cNvSpPr txBox="1"/>
          <p:nvPr userDrawn="1"/>
        </p:nvSpPr>
        <p:spPr>
          <a:xfrm>
            <a:off x="10774680" y="6488668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Adam Gavel</a:t>
            </a:r>
          </a:p>
        </p:txBody>
      </p:sp>
    </p:spTree>
    <p:extLst>
      <p:ext uri="{BB962C8B-B14F-4D97-AF65-F5344CB8AC3E}">
        <p14:creationId xmlns:p14="http://schemas.microsoft.com/office/powerpoint/2010/main" val="267259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9A2327FA-0A17-40A1-A75D-372EDC6CD2D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E4271142-0E76-4635-AAC3-D1D3D68644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95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Segoe UI" panose="020B0502040204020203" pitchFamily="34" charset="0"/>
          <a:ea typeface="+mj-ea"/>
          <a:cs typeface="Segoe UI" panose="020B0502040204020203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.xls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submit.io/blog/the-evolution-of-developer-salarie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15BD-5269-459A-A939-512D3DC21C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Developers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01EF5-00DA-4A90-97D0-693D3E0400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SEWD1 2025</a:t>
            </a:r>
          </a:p>
        </p:txBody>
      </p:sp>
    </p:spTree>
    <p:extLst>
      <p:ext uri="{BB962C8B-B14F-4D97-AF65-F5344CB8AC3E}">
        <p14:creationId xmlns:p14="http://schemas.microsoft.com/office/powerpoint/2010/main" val="146648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D5451-AD23-4148-8210-66E8B34C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They Do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E66CBE-4D4D-4D76-8622-028639CBB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en-US" sz="2800" dirty="0"/>
              <a:t>A software developer’s main responsibilities are –</a:t>
            </a:r>
          </a:p>
          <a:p>
            <a:pPr marL="36900" indent="0">
              <a:buNone/>
            </a:pPr>
            <a:endParaRPr lang="en-US" sz="1200" dirty="0"/>
          </a:p>
          <a:p>
            <a:r>
              <a:rPr lang="en-US" dirty="0"/>
              <a:t>The design of software applications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dirty="0"/>
              <a:t>The development and testing of software applications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dirty="0"/>
              <a:t>The maintenance of software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928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D5451-AD23-4148-8210-66E8B34C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 and Skills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E66CBE-4D4D-4D76-8622-028639CBB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526119"/>
          </a:xfrm>
        </p:spPr>
        <p:txBody>
          <a:bodyPr/>
          <a:lstStyle/>
          <a:p>
            <a:pPr marL="36900" indent="0" algn="ctr">
              <a:buNone/>
            </a:pPr>
            <a:r>
              <a:rPr lang="en-US" sz="2800" dirty="0"/>
              <a:t>The minimum/required education for software developers are 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10B61-7F80-4EBB-AD6A-1EB250A479A7}"/>
              </a:ext>
            </a:extLst>
          </p:cNvPr>
          <p:cNvSpPr txBox="1"/>
          <p:nvPr/>
        </p:nvSpPr>
        <p:spPr>
          <a:xfrm>
            <a:off x="913794" y="2410967"/>
            <a:ext cx="51822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Soft Skills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Problem Solving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Adaptability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12D1C-C194-4200-961A-C66E111F56CA}"/>
              </a:ext>
            </a:extLst>
          </p:cNvPr>
          <p:cNvSpPr txBox="1"/>
          <p:nvPr/>
        </p:nvSpPr>
        <p:spPr>
          <a:xfrm>
            <a:off x="6090675" y="2410967"/>
            <a:ext cx="51768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Education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Bachelor’s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Knowledge with programming 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Knowledge with 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325626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D5451-AD23-4148-8210-66E8B34C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 Snapshot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E66CBE-4D4D-4D76-8622-028639CBB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526119"/>
          </a:xfrm>
        </p:spPr>
        <p:txBody>
          <a:bodyPr/>
          <a:lstStyle/>
          <a:p>
            <a:pPr marL="36900" indent="0" algn="ctr">
              <a:buNone/>
            </a:pPr>
            <a:r>
              <a:rPr lang="en-US" sz="2800" dirty="0"/>
              <a:t>The common salary for a software developer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10B61-7F80-4EBB-AD6A-1EB250A479A7}"/>
              </a:ext>
            </a:extLst>
          </p:cNvPr>
          <p:cNvSpPr txBox="1"/>
          <p:nvPr/>
        </p:nvSpPr>
        <p:spPr>
          <a:xfrm>
            <a:off x="1344499" y="2410967"/>
            <a:ext cx="2999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Entry-Level Salary</a:t>
            </a:r>
          </a:p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91K – 153K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DF78B1-1D41-41DD-AC34-2F500142BEF8}"/>
              </a:ext>
            </a:extLst>
          </p:cNvPr>
          <p:cNvSpPr txBox="1"/>
          <p:nvPr/>
        </p:nvSpPr>
        <p:spPr>
          <a:xfrm>
            <a:off x="4590757" y="2413337"/>
            <a:ext cx="2999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Mid-Career Salary</a:t>
            </a:r>
          </a:p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100K – 169K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62F11-28EE-4FB4-B4E2-51A43E6C6D32}"/>
              </a:ext>
            </a:extLst>
          </p:cNvPr>
          <p:cNvSpPr txBox="1"/>
          <p:nvPr/>
        </p:nvSpPr>
        <p:spPr>
          <a:xfrm>
            <a:off x="7837015" y="2410966"/>
            <a:ext cx="2999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Senior-Level Salary</a:t>
            </a:r>
          </a:p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124K – 211K</a:t>
            </a:r>
          </a:p>
        </p:txBody>
      </p:sp>
    </p:spTree>
    <p:extLst>
      <p:ext uri="{BB962C8B-B14F-4D97-AF65-F5344CB8AC3E}">
        <p14:creationId xmlns:p14="http://schemas.microsoft.com/office/powerpoint/2010/main" val="112804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D5451-AD23-4148-8210-66E8B34C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Outlook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E66CBE-4D4D-4D76-8622-028639CBB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526119"/>
          </a:xfrm>
        </p:spPr>
        <p:txBody>
          <a:bodyPr/>
          <a:lstStyle/>
          <a:p>
            <a:pPr marL="36900" indent="0" algn="ctr">
              <a:buNone/>
            </a:pPr>
            <a:r>
              <a:rPr lang="en-US" sz="2800" dirty="0"/>
              <a:t>The growth rate, and demand level for software developers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10B61-7F80-4EBB-AD6A-1EB250A479A7}"/>
              </a:ext>
            </a:extLst>
          </p:cNvPr>
          <p:cNvSpPr txBox="1"/>
          <p:nvPr/>
        </p:nvSpPr>
        <p:spPr>
          <a:xfrm>
            <a:off x="913794" y="2410967"/>
            <a:ext cx="5182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Growth rate – 15% - 17%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Demand Level - High</a:t>
            </a:r>
          </a:p>
        </p:txBody>
      </p:sp>
      <p:pic>
        <p:nvPicPr>
          <p:cNvPr id="3" name="Picture 2" descr="Businessperson on a computer, looking at data">
            <a:extLst>
              <a:ext uri="{FF2B5EF4-FFF2-40B4-BE49-F238E27FC236}">
                <a16:creationId xmlns:a16="http://schemas.microsoft.com/office/drawing/2014/main" id="{DDAE8968-401A-4CF3-BA09-FBA09EF7E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676" y="2872632"/>
            <a:ext cx="4465320" cy="251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5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D5451-AD23-4148-8210-66E8B34C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Coursework Connection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E66CBE-4D4D-4D76-8622-028639CBB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en-US" sz="2800" dirty="0"/>
              <a:t>Software developers connect to our class with -</a:t>
            </a:r>
          </a:p>
          <a:p>
            <a:pPr marL="36900" indent="0">
              <a:buNone/>
            </a:pPr>
            <a:endParaRPr lang="en-US" sz="1200" dirty="0"/>
          </a:p>
          <a:p>
            <a:r>
              <a:rPr lang="en-US" dirty="0"/>
              <a:t>Programming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dirty="0"/>
              <a:t>SQL/Working with Databases</a:t>
            </a:r>
          </a:p>
        </p:txBody>
      </p:sp>
    </p:spTree>
    <p:extLst>
      <p:ext uri="{BB962C8B-B14F-4D97-AF65-F5344CB8AC3E}">
        <p14:creationId xmlns:p14="http://schemas.microsoft.com/office/powerpoint/2010/main" val="273179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D5451-AD23-4148-8210-66E8B34C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Developer Average Salary (2001 – 2017)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2BCC005-5DEC-4B15-9543-903152B502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008357"/>
              </p:ext>
            </p:extLst>
          </p:nvPr>
        </p:nvGraphicFramePr>
        <p:xfrm>
          <a:off x="2051050" y="1393825"/>
          <a:ext cx="8078788" cy="485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Worksheet" r:id="rId4" imgW="4581398" imgH="2752541" progId="Excel.Sheet.12">
                  <p:embed/>
                </p:oleObj>
              </mc:Choice>
              <mc:Fallback>
                <p:oleObj name="Worksheet" r:id="rId4" imgW="4581398" imgH="275254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51050" y="1393825"/>
                        <a:ext cx="8078788" cy="485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766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C937D7-4707-4C95-AD67-FFAF407B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D697B4-647B-4FBD-B5AA-E2354199E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https://codesubmit.io/blog/the-evolution-of-developer-salaries/</a:t>
            </a:r>
            <a:endParaRPr lang="en-US" dirty="0"/>
          </a:p>
          <a:p>
            <a:r>
              <a:rPr lang="en-US" dirty="0"/>
              <a:t>Career Research Project Sources</a:t>
            </a:r>
          </a:p>
        </p:txBody>
      </p:sp>
    </p:spTree>
    <p:extLst>
      <p:ext uri="{BB962C8B-B14F-4D97-AF65-F5344CB8AC3E}">
        <p14:creationId xmlns:p14="http://schemas.microsoft.com/office/powerpoint/2010/main" val="14246561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60</TotalTime>
  <Words>265</Words>
  <Application>Microsoft Office PowerPoint</Application>
  <PresentationFormat>Widescreen</PresentationFormat>
  <Paragraphs>65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Segoe UI</vt:lpstr>
      <vt:lpstr>Wingdings 2</vt:lpstr>
      <vt:lpstr>Slate</vt:lpstr>
      <vt:lpstr>Microsoft Excel Worksheet</vt:lpstr>
      <vt:lpstr>Software Developers</vt:lpstr>
      <vt:lpstr>What They Do</vt:lpstr>
      <vt:lpstr>Education and Skills</vt:lpstr>
      <vt:lpstr>Salary Snapshot</vt:lpstr>
      <vt:lpstr>Job Outlook</vt:lpstr>
      <vt:lpstr>Coursework Connection</vt:lpstr>
      <vt:lpstr>Software Developer Average Salary (2001 – 2017)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</dc:title>
  <dc:creator>Gavel, Adam</dc:creator>
  <cp:lastModifiedBy>Gavel, Adam</cp:lastModifiedBy>
  <cp:revision>10</cp:revision>
  <dcterms:created xsi:type="dcterms:W3CDTF">2025-11-04T13:48:16Z</dcterms:created>
  <dcterms:modified xsi:type="dcterms:W3CDTF">2025-11-04T14:49:12Z</dcterms:modified>
</cp:coreProperties>
</file>