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21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D7FBE6-92ED-47E4-8BBD-51EB549744C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17DF7414-48A7-480A-A9EB-3F1723DEEFC4}">
      <dgm:prSet phldrT="[Text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Style</a:t>
          </a:r>
        </a:p>
      </dgm:t>
    </dgm:pt>
    <dgm:pt modelId="{4BA97E18-AC2A-4CF7-A7A1-521D2C8B23E2}" type="parTrans" cxnId="{E054FFC2-20C7-43DC-B6C6-20E279450A70}">
      <dgm:prSet/>
      <dgm:spPr/>
      <dgm:t>
        <a:bodyPr/>
        <a:lstStyle/>
        <a:p>
          <a:endParaRPr lang="en-US"/>
        </a:p>
      </dgm:t>
    </dgm:pt>
    <dgm:pt modelId="{3F3BD3F2-9DD2-4C28-B240-237958B087E2}" type="sibTrans" cxnId="{E054FFC2-20C7-43DC-B6C6-20E279450A70}">
      <dgm:prSet/>
      <dgm:spPr/>
      <dgm:t>
        <a:bodyPr/>
        <a:lstStyle/>
        <a:p>
          <a:endParaRPr lang="en-US"/>
        </a:p>
      </dgm:t>
    </dgm:pt>
    <dgm:pt modelId="{39948152-39AB-4FED-9FC7-FDBFCB7DF22C}">
      <dgm:prSet phldrT="[Text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Element</a:t>
          </a:r>
        </a:p>
      </dgm:t>
    </dgm:pt>
    <dgm:pt modelId="{12A7F878-4EC8-423B-A4AC-E1D33EF67439}" type="parTrans" cxnId="{D2562D7A-03F7-4E97-8C8D-2A20A440EB67}">
      <dgm:prSet/>
      <dgm:spPr/>
      <dgm:t>
        <a:bodyPr/>
        <a:lstStyle/>
        <a:p>
          <a:endParaRPr lang="en-US"/>
        </a:p>
      </dgm:t>
    </dgm:pt>
    <dgm:pt modelId="{6BD18F19-90B1-48B3-A8C9-2EA5AC9B17F6}" type="sibTrans" cxnId="{D2562D7A-03F7-4E97-8C8D-2A20A440EB67}">
      <dgm:prSet/>
      <dgm:spPr/>
      <dgm:t>
        <a:bodyPr/>
        <a:lstStyle/>
        <a:p>
          <a:endParaRPr lang="en-US"/>
        </a:p>
      </dgm:t>
    </dgm:pt>
    <dgm:pt modelId="{53CB38E1-5C06-4AF4-830D-838D30B3C7C2}">
      <dgm:prSet phldrT="[Text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Script</a:t>
          </a:r>
        </a:p>
      </dgm:t>
    </dgm:pt>
    <dgm:pt modelId="{ACD0B708-AEE2-4C67-A2F0-F945A51DCB89}" type="parTrans" cxnId="{DE6FF1D8-2ADD-483B-893E-CE92AF54B56C}">
      <dgm:prSet/>
      <dgm:spPr/>
      <dgm:t>
        <a:bodyPr/>
        <a:lstStyle/>
        <a:p>
          <a:endParaRPr lang="en-US"/>
        </a:p>
      </dgm:t>
    </dgm:pt>
    <dgm:pt modelId="{571AAD01-1600-4213-AC7C-BA22B2CEA4E3}" type="sibTrans" cxnId="{DE6FF1D8-2ADD-483B-893E-CE92AF54B56C}">
      <dgm:prSet/>
      <dgm:spPr/>
      <dgm:t>
        <a:bodyPr/>
        <a:lstStyle/>
        <a:p>
          <a:endParaRPr lang="en-US"/>
        </a:p>
      </dgm:t>
    </dgm:pt>
    <dgm:pt modelId="{3586A0CA-176D-49AE-A37F-04553636CA60}" type="pres">
      <dgm:prSet presAssocID="{43D7FBE6-92ED-47E4-8BBD-51EB549744C2}" presName="Name0" presStyleCnt="0">
        <dgm:presLayoutVars>
          <dgm:dir/>
          <dgm:animLvl val="lvl"/>
          <dgm:resizeHandles val="exact"/>
        </dgm:presLayoutVars>
      </dgm:prSet>
      <dgm:spPr/>
    </dgm:pt>
    <dgm:pt modelId="{88931B12-E797-42CD-95A5-B514E07330C8}" type="pres">
      <dgm:prSet presAssocID="{17DF7414-48A7-480A-A9EB-3F1723DEEFC4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3AB973B-9507-4A58-8BC9-51F8C884850B}" type="pres">
      <dgm:prSet presAssocID="{3F3BD3F2-9DD2-4C28-B240-237958B087E2}" presName="parTxOnlySpace" presStyleCnt="0"/>
      <dgm:spPr/>
    </dgm:pt>
    <dgm:pt modelId="{6EA48F60-A413-4ABD-A3E1-1BA7A9F6853D}" type="pres">
      <dgm:prSet presAssocID="{39948152-39AB-4FED-9FC7-FDBFCB7DF22C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A2134CD0-E61F-4837-915C-151D9B4F75F2}" type="pres">
      <dgm:prSet presAssocID="{6BD18F19-90B1-48B3-A8C9-2EA5AC9B17F6}" presName="parTxOnlySpace" presStyleCnt="0"/>
      <dgm:spPr/>
    </dgm:pt>
    <dgm:pt modelId="{75ED168D-3A7D-4513-88A2-F49E97999372}" type="pres">
      <dgm:prSet presAssocID="{53CB38E1-5C06-4AF4-830D-838D30B3C7C2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E528922F-3605-45A9-9551-D8155AFAFEBA}" type="presOf" srcId="{53CB38E1-5C06-4AF4-830D-838D30B3C7C2}" destId="{75ED168D-3A7D-4513-88A2-F49E97999372}" srcOrd="0" destOrd="0" presId="urn:microsoft.com/office/officeart/2005/8/layout/chevron1"/>
    <dgm:cxn modelId="{10185646-01CA-4F25-953F-FC4BC1C5FE51}" type="presOf" srcId="{39948152-39AB-4FED-9FC7-FDBFCB7DF22C}" destId="{6EA48F60-A413-4ABD-A3E1-1BA7A9F6853D}" srcOrd="0" destOrd="0" presId="urn:microsoft.com/office/officeart/2005/8/layout/chevron1"/>
    <dgm:cxn modelId="{D2562D7A-03F7-4E97-8C8D-2A20A440EB67}" srcId="{43D7FBE6-92ED-47E4-8BBD-51EB549744C2}" destId="{39948152-39AB-4FED-9FC7-FDBFCB7DF22C}" srcOrd="1" destOrd="0" parTransId="{12A7F878-4EC8-423B-A4AC-E1D33EF67439}" sibTransId="{6BD18F19-90B1-48B3-A8C9-2EA5AC9B17F6}"/>
    <dgm:cxn modelId="{418DE3A0-FE6F-4EB0-938F-7FE417A42262}" type="presOf" srcId="{43D7FBE6-92ED-47E4-8BBD-51EB549744C2}" destId="{3586A0CA-176D-49AE-A37F-04553636CA60}" srcOrd="0" destOrd="0" presId="urn:microsoft.com/office/officeart/2005/8/layout/chevron1"/>
    <dgm:cxn modelId="{E054FFC2-20C7-43DC-B6C6-20E279450A70}" srcId="{43D7FBE6-92ED-47E4-8BBD-51EB549744C2}" destId="{17DF7414-48A7-480A-A9EB-3F1723DEEFC4}" srcOrd="0" destOrd="0" parTransId="{4BA97E18-AC2A-4CF7-A7A1-521D2C8B23E2}" sibTransId="{3F3BD3F2-9DD2-4C28-B240-237958B087E2}"/>
    <dgm:cxn modelId="{DE6FF1D8-2ADD-483B-893E-CE92AF54B56C}" srcId="{43D7FBE6-92ED-47E4-8BBD-51EB549744C2}" destId="{53CB38E1-5C06-4AF4-830D-838D30B3C7C2}" srcOrd="2" destOrd="0" parTransId="{ACD0B708-AEE2-4C67-A2F0-F945A51DCB89}" sibTransId="{571AAD01-1600-4213-AC7C-BA22B2CEA4E3}"/>
    <dgm:cxn modelId="{7D61D6EF-CC84-4D3F-976D-207E69CC7B71}" type="presOf" srcId="{17DF7414-48A7-480A-A9EB-3F1723DEEFC4}" destId="{88931B12-E797-42CD-95A5-B514E07330C8}" srcOrd="0" destOrd="0" presId="urn:microsoft.com/office/officeart/2005/8/layout/chevron1"/>
    <dgm:cxn modelId="{D317AC4E-2434-4E6A-B98F-CE3EC9D88559}" type="presParOf" srcId="{3586A0CA-176D-49AE-A37F-04553636CA60}" destId="{88931B12-E797-42CD-95A5-B514E07330C8}" srcOrd="0" destOrd="0" presId="urn:microsoft.com/office/officeart/2005/8/layout/chevron1"/>
    <dgm:cxn modelId="{55813EC3-441C-4DA5-A0D8-D903DAB42F6B}" type="presParOf" srcId="{3586A0CA-176D-49AE-A37F-04553636CA60}" destId="{43AB973B-9507-4A58-8BC9-51F8C884850B}" srcOrd="1" destOrd="0" presId="urn:microsoft.com/office/officeart/2005/8/layout/chevron1"/>
    <dgm:cxn modelId="{9DFE44D4-3543-4CDE-A9BE-1EFFEB8086AB}" type="presParOf" srcId="{3586A0CA-176D-49AE-A37F-04553636CA60}" destId="{6EA48F60-A413-4ABD-A3E1-1BA7A9F6853D}" srcOrd="2" destOrd="0" presId="urn:microsoft.com/office/officeart/2005/8/layout/chevron1"/>
    <dgm:cxn modelId="{60DCA96B-2575-4994-891B-2E73C512DE7A}" type="presParOf" srcId="{3586A0CA-176D-49AE-A37F-04553636CA60}" destId="{A2134CD0-E61F-4837-915C-151D9B4F75F2}" srcOrd="3" destOrd="0" presId="urn:microsoft.com/office/officeart/2005/8/layout/chevron1"/>
    <dgm:cxn modelId="{7D6DFD0A-01F2-47FE-AE8A-1F793DA88736}" type="presParOf" srcId="{3586A0CA-176D-49AE-A37F-04553636CA60}" destId="{75ED168D-3A7D-4513-88A2-F49E97999372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31B12-E797-42CD-95A5-B514E07330C8}">
      <dsp:nvSpPr>
        <dsp:cNvPr id="0" name=""/>
        <dsp:cNvSpPr/>
      </dsp:nvSpPr>
      <dsp:spPr>
        <a:xfrm>
          <a:off x="1284" y="1148118"/>
          <a:ext cx="1564448" cy="625779"/>
        </a:xfrm>
        <a:prstGeom prst="chevron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50000"/>
            </a:schemeClr>
          </a:solidFill>
          <a:prstDash val="solid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Style</a:t>
          </a:r>
        </a:p>
      </dsp:txBody>
      <dsp:txXfrm>
        <a:off x="314174" y="1148118"/>
        <a:ext cx="938669" cy="625779"/>
      </dsp:txXfrm>
    </dsp:sp>
    <dsp:sp modelId="{6EA48F60-A413-4ABD-A3E1-1BA7A9F6853D}">
      <dsp:nvSpPr>
        <dsp:cNvPr id="0" name=""/>
        <dsp:cNvSpPr/>
      </dsp:nvSpPr>
      <dsp:spPr>
        <a:xfrm>
          <a:off x="1409287" y="1148118"/>
          <a:ext cx="1564448" cy="625779"/>
        </a:xfrm>
        <a:prstGeom prst="chevron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50000"/>
            </a:schemeClr>
          </a:solidFill>
          <a:prstDash val="solid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Element</a:t>
          </a:r>
        </a:p>
      </dsp:txBody>
      <dsp:txXfrm>
        <a:off x="1722177" y="1148118"/>
        <a:ext cx="938669" cy="625779"/>
      </dsp:txXfrm>
    </dsp:sp>
    <dsp:sp modelId="{75ED168D-3A7D-4513-88A2-F49E97999372}">
      <dsp:nvSpPr>
        <dsp:cNvPr id="0" name=""/>
        <dsp:cNvSpPr/>
      </dsp:nvSpPr>
      <dsp:spPr>
        <a:xfrm>
          <a:off x="2817291" y="1148118"/>
          <a:ext cx="1564448" cy="625779"/>
        </a:xfrm>
        <a:prstGeom prst="chevron">
          <a:avLst/>
        </a:prstGeom>
        <a:solidFill>
          <a:schemeClr val="accent6"/>
        </a:solidFill>
        <a:ln w="15875" cap="flat" cmpd="sng" algn="ctr">
          <a:solidFill>
            <a:schemeClr val="accent6">
              <a:shade val="50000"/>
            </a:schemeClr>
          </a:solidFill>
          <a:prstDash val="solid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Script</a:t>
          </a:r>
        </a:p>
      </dsp:txBody>
      <dsp:txXfrm>
        <a:off x="3130181" y="1148118"/>
        <a:ext cx="938669" cy="6257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F71FA-ED44-448C-9ED7-23F36ADA12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817B1-A8D5-41C9-992A-21338DE5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3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Element, in these examples, is a stand-in for any element you want to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817B1-A8D5-41C9-992A-21338DE536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05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817B1-A8D5-41C9-992A-21338DE536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43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three different assigned cards. While similar, they are different in both element, and assigned color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817B1-A8D5-41C9-992A-21338DE536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32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important to put your style before and element, and an element before a script in your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817B1-A8D5-41C9-992A-21338DE536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13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817B1-A8D5-41C9-992A-21338DE536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54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3C17-6118-4481-9255-F760ADC5660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D82E-ED4B-4713-B364-8D0DE7BAA9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25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3C17-6118-4481-9255-F760ADC5660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D82E-ED4B-4713-B364-8D0DE7BAA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1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3C17-6118-4481-9255-F760ADC5660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D82E-ED4B-4713-B364-8D0DE7BAA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28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4943C17-6118-4481-9255-F760ADC5660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113D82E-ED4B-4713-B364-8D0DE7BAA93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1399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3" r:id="rId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4F06D-64F2-473A-AD8F-B570F0C667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DOM Manipulation in JS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696AE2-F26D-48CA-9E13-1E4C460242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Adam gavel</a:t>
            </a:r>
          </a:p>
        </p:txBody>
      </p:sp>
    </p:spTree>
    <p:extLst>
      <p:ext uri="{BB962C8B-B14F-4D97-AF65-F5344CB8AC3E}">
        <p14:creationId xmlns:p14="http://schemas.microsoft.com/office/powerpoint/2010/main" val="316270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FFFDE-1957-401C-8A96-7DB7FD52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and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47EF6-6782-4A81-8E4D-B743C9F58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DOM Manipulation (or, Document Object Model) is how JavaScript changes and alters both HTML, and CSS.</a:t>
            </a:r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r>
              <a:rPr lang="en-US" sz="2400" dirty="0"/>
              <a:t>It allows developers to quickly change large segments of HTML or CSS, depending on user input, or the user’s device.</a:t>
            </a:r>
          </a:p>
        </p:txBody>
      </p:sp>
      <p:pic>
        <p:nvPicPr>
          <p:cNvPr id="6" name="Graphic 5" descr="Computer with solid fill">
            <a:extLst>
              <a:ext uri="{FF2B5EF4-FFF2-40B4-BE49-F238E27FC236}">
                <a16:creationId xmlns:a16="http://schemas.microsoft.com/office/drawing/2014/main" id="{C097BD2C-FBF7-4838-8F5D-BEDA280F5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17373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175351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498A8-0EDC-4C51-8A5B-8DDBE8C9A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A248-5038-4807-BBA5-F03938BAD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most important methods are –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getElementById() – gets an element based on it’s assigned ID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Element.textContent</a:t>
            </a:r>
            <a:r>
              <a:rPr lang="en-US" sz="2400" dirty="0"/>
              <a:t> – allows a developer to see/change text content in an element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Element.classList.add</a:t>
            </a:r>
            <a:r>
              <a:rPr lang="en-US" sz="2400" dirty="0"/>
              <a:t>(‘new-style’); - allows a developer to assign a new class to an element</a:t>
            </a:r>
          </a:p>
        </p:txBody>
      </p:sp>
      <p:pic>
        <p:nvPicPr>
          <p:cNvPr id="7" name="Graphic 6" descr="Document with solid fill">
            <a:extLst>
              <a:ext uri="{FF2B5EF4-FFF2-40B4-BE49-F238E27FC236}">
                <a16:creationId xmlns:a16="http://schemas.microsoft.com/office/drawing/2014/main" id="{4903FB9E-B7F3-4031-B04A-98D6CCF94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3430" y="8771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5374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5A18C-8E28-4A8F-A01B-DE74E3513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pic>
        <p:nvPicPr>
          <p:cNvPr id="8" name="Content Placeholder 7" descr="Code descripting an element being changed in text, size and font using DOM.">
            <a:extLst>
              <a:ext uri="{FF2B5EF4-FFF2-40B4-BE49-F238E27FC236}">
                <a16:creationId xmlns:a16="http://schemas.microsoft.com/office/drawing/2014/main" id="{6A2CBE83-63F5-4846-AC3A-F642A8AEF1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3" y="2041224"/>
            <a:ext cx="4938712" cy="363280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74864-5309-47EF-9C00-73A1C1545C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Notice that there are two h1 elements, with the only difference being the assigned ID.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script is placed BEFORE the elements. It is important to state elements before attempting to change them.</a:t>
            </a:r>
          </a:p>
        </p:txBody>
      </p:sp>
    </p:spTree>
    <p:extLst>
      <p:ext uri="{BB962C8B-B14F-4D97-AF65-F5344CB8AC3E}">
        <p14:creationId xmlns:p14="http://schemas.microsoft.com/office/powerpoint/2010/main" val="489985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D8B0-D8D7-483D-BB73-D3112B29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Applied Example</a:t>
            </a:r>
          </a:p>
        </p:txBody>
      </p:sp>
      <p:pic>
        <p:nvPicPr>
          <p:cNvPr id="6" name="Content Placeholder 5" descr="A script depicting of several h1 elements being assigned card classes, through DOM.">
            <a:extLst>
              <a:ext uri="{FF2B5EF4-FFF2-40B4-BE49-F238E27FC236}">
                <a16:creationId xmlns:a16="http://schemas.microsoft.com/office/drawing/2014/main" id="{4088B9B7-DAA7-4A57-8E07-0E4F2EFD7E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831" y="1846263"/>
            <a:ext cx="4440975" cy="4022725"/>
          </a:xfrm>
        </p:spPr>
      </p:pic>
      <p:pic>
        <p:nvPicPr>
          <p:cNvPr id="8" name="Content Placeholder 7" descr="An html page of 3 &quot;cards&quot;.">
            <a:extLst>
              <a:ext uri="{FF2B5EF4-FFF2-40B4-BE49-F238E27FC236}">
                <a16:creationId xmlns:a16="http://schemas.microsoft.com/office/drawing/2014/main" id="{D9758388-27A5-4680-941E-F3850E6F84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3196403"/>
            <a:ext cx="4937125" cy="1322444"/>
          </a:xfrm>
        </p:spPr>
      </p:pic>
    </p:spTree>
    <p:extLst>
      <p:ext uri="{BB962C8B-B14F-4D97-AF65-F5344CB8AC3E}">
        <p14:creationId xmlns:p14="http://schemas.microsoft.com/office/powerpoint/2010/main" val="200332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E99972E-1C00-489F-8633-46751D77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 / Tips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2510354-CEF7-444E-9A0D-CE39CAE94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Always put scripts after elements.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Assigning variables to elements before changing them.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Assigning one ID to multiple elements.</a:t>
            </a:r>
          </a:p>
        </p:txBody>
      </p:sp>
      <p:graphicFrame>
        <p:nvGraphicFramePr>
          <p:cNvPr id="9" name="Diagram 8" descr="An arrow chart showing style, element and script in order.">
            <a:extLst>
              <a:ext uri="{FF2B5EF4-FFF2-40B4-BE49-F238E27FC236}">
                <a16:creationId xmlns:a16="http://schemas.microsoft.com/office/drawing/2014/main" id="{6E9DF1F8-1B5F-47DE-A4B5-36A8E93CA2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3842312"/>
              </p:ext>
            </p:extLst>
          </p:nvPr>
        </p:nvGraphicFramePr>
        <p:xfrm flipV="1">
          <a:off x="5742432" y="596392"/>
          <a:ext cx="4383024" cy="2922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7509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206D75-AED8-43D7-B554-AA5C2E82D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F7DADB-C592-4083-8F68-57409D3AA5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DOM Manipulation helps developers make large changes quickly, and helps create template for future use.</a:t>
            </a:r>
          </a:p>
          <a:p>
            <a:endParaRPr lang="en-US" sz="2400" dirty="0"/>
          </a:p>
        </p:txBody>
      </p:sp>
      <p:pic>
        <p:nvPicPr>
          <p:cNvPr id="8" name="Content Placeholder 7" descr="Focused male engineer working at computer">
            <a:extLst>
              <a:ext uri="{FF2B5EF4-FFF2-40B4-BE49-F238E27FC236}">
                <a16:creationId xmlns:a16="http://schemas.microsoft.com/office/drawing/2014/main" id="{CFFEEA65-783B-4FB8-B127-1D9FB4D9EB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212319"/>
            <a:ext cx="4937125" cy="3290613"/>
          </a:xfrm>
        </p:spPr>
      </p:pic>
    </p:spTree>
    <p:extLst>
      <p:ext uri="{BB962C8B-B14F-4D97-AF65-F5344CB8AC3E}">
        <p14:creationId xmlns:p14="http://schemas.microsoft.com/office/powerpoint/2010/main" val="1529610273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121F11-197E-4BBD-99FE-D7C225A43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B8CE60-5A49-421F-9454-A42832F14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Classwork GitHub Repository (js04)</a:t>
            </a:r>
          </a:p>
        </p:txBody>
      </p:sp>
    </p:spTree>
    <p:extLst>
      <p:ext uri="{BB962C8B-B14F-4D97-AF65-F5344CB8AC3E}">
        <p14:creationId xmlns:p14="http://schemas.microsoft.com/office/powerpoint/2010/main" val="6038327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46</TotalTime>
  <Words>266</Words>
  <Application>Microsoft Office PowerPoint</Application>
  <PresentationFormat>Widescreen</PresentationFormat>
  <Paragraphs>42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Retrospect</vt:lpstr>
      <vt:lpstr>DOM Manipulation in JS</vt:lpstr>
      <vt:lpstr>Definition and Purpose</vt:lpstr>
      <vt:lpstr>Key Terms</vt:lpstr>
      <vt:lpstr>Examples</vt:lpstr>
      <vt:lpstr>Applied Example</vt:lpstr>
      <vt:lpstr>Common Mistakes / Tips</vt:lpstr>
      <vt:lpstr>Importance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 Manipulation in JS</dc:title>
  <dc:creator>Gavel, Adam</dc:creator>
  <cp:lastModifiedBy>Gavel, Adam</cp:lastModifiedBy>
  <cp:revision>5</cp:revision>
  <dcterms:created xsi:type="dcterms:W3CDTF">2025-11-06T13:12:06Z</dcterms:created>
  <dcterms:modified xsi:type="dcterms:W3CDTF">2025-11-06T13:58:48Z</dcterms:modified>
</cp:coreProperties>
</file>